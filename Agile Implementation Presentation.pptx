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56" r:id="rId5"/>
    <p:sldId id="277" r:id="rId6"/>
    <p:sldId id="264" r:id="rId7"/>
    <p:sldId id="268" r:id="rId8"/>
    <p:sldId id="286"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3204" autoAdjust="0"/>
  </p:normalViewPr>
  <p:slideViewPr>
    <p:cSldViewPr snapToGrid="0">
      <p:cViewPr varScale="1">
        <p:scale>
          <a:sx n="60" d="100"/>
          <a:sy n="60" d="100"/>
        </p:scale>
        <p:origin x="72" y="1158"/>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10/21/2025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10/21/2025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2769560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510226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5</a:t>
            </a:fld>
            <a:endParaRPr lang="en-US" dirty="0"/>
          </a:p>
        </p:txBody>
      </p:sp>
    </p:spTree>
    <p:extLst>
      <p:ext uri="{BB962C8B-B14F-4D97-AF65-F5344CB8AC3E}">
        <p14:creationId xmlns:p14="http://schemas.microsoft.com/office/powerpoint/2010/main" val="2909667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3110401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80/00368555.2022.12293699"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hyperlink" Target="https://doi.org/10.1109/ACIT62805.2024.108772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3962400" y="0"/>
            <a:ext cx="7303864" cy="4230965"/>
          </a:xfrm>
        </p:spPr>
        <p:txBody>
          <a:bodyPr>
            <a:normAutofit/>
          </a:bodyPr>
          <a:lstStyle/>
          <a:p>
            <a:r>
              <a:rPr lang="en-US" dirty="0"/>
              <a:t>Agile Implementation</a:t>
            </a:r>
            <a:br>
              <a:rPr lang="en-US" dirty="0"/>
            </a:br>
            <a:r>
              <a:rPr lang="en-US" sz="1600" dirty="0"/>
              <a:t> </a:t>
            </a:r>
            <a:br>
              <a:rPr lang="en-US" dirty="0"/>
            </a:br>
            <a:r>
              <a:rPr lang="en-US" sz="2800" dirty="0"/>
              <a:t>Module 7</a:t>
            </a:r>
            <a:br>
              <a:rPr lang="en-US" sz="2800" dirty="0"/>
            </a:br>
            <a:r>
              <a:rPr lang="en-US" sz="2800" dirty="0"/>
              <a:t>Taylor Torgeson</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4852307" y="0"/>
            <a:ext cx="6343650" cy="1169377"/>
          </a:xfrm>
        </p:spPr>
        <p:txBody>
          <a:bodyPr>
            <a:normAutofit/>
          </a:bodyPr>
          <a:lstStyle/>
          <a:p>
            <a:r>
              <a:rPr lang="en-US" dirty="0"/>
              <a:t>Agile Roles</a:t>
            </a:r>
            <a:endParaRPr lang="en-ZA" dirty="0"/>
          </a:p>
        </p:txBody>
      </p:sp>
      <p:sp>
        <p:nvSpPr>
          <p:cNvPr id="3" name="Subtitle 2">
            <a:extLst>
              <a:ext uri="{FF2B5EF4-FFF2-40B4-BE49-F238E27FC236}">
                <a16:creationId xmlns:a16="http://schemas.microsoft.com/office/drawing/2014/main" id="{35E3EA69-4E0E-41BD-8095-A124225A2647}"/>
              </a:ext>
            </a:extLst>
          </p:cNvPr>
          <p:cNvSpPr>
            <a:spLocks noGrp="1"/>
          </p:cNvSpPr>
          <p:nvPr>
            <p:ph sz="half" idx="14"/>
          </p:nvPr>
        </p:nvSpPr>
        <p:spPr>
          <a:xfrm>
            <a:off x="4243462" y="1364457"/>
            <a:ext cx="4675949" cy="4991893"/>
          </a:xfrm>
        </p:spPr>
        <p:txBody>
          <a:bodyPr>
            <a:normAutofit/>
          </a:bodyPr>
          <a:lstStyle/>
          <a:p>
            <a:r>
              <a:rPr lang="en-US" sz="1400" dirty="0"/>
              <a:t>Product Owner</a:t>
            </a:r>
          </a:p>
          <a:p>
            <a:pPr marL="285750" indent="-285750">
              <a:buFontTx/>
              <a:buChar char="-"/>
            </a:pPr>
            <a:r>
              <a:rPr lang="en-US" sz="1400" dirty="0"/>
              <a:t>Communication between investors and team </a:t>
            </a:r>
          </a:p>
          <a:p>
            <a:pPr marL="285750" indent="-285750">
              <a:buFontTx/>
              <a:buChar char="-"/>
            </a:pPr>
            <a:r>
              <a:rPr lang="en-US" sz="1400" dirty="0"/>
              <a:t>Manages product backlog</a:t>
            </a:r>
          </a:p>
          <a:p>
            <a:r>
              <a:rPr lang="en-US" sz="1400" dirty="0"/>
              <a:t>Developer Team</a:t>
            </a:r>
          </a:p>
          <a:p>
            <a:pPr marL="285750" indent="-285750">
              <a:buFontTx/>
              <a:buChar char="-"/>
            </a:pPr>
            <a:r>
              <a:rPr lang="en-US" sz="1400" dirty="0"/>
              <a:t>Develops the project </a:t>
            </a:r>
          </a:p>
          <a:p>
            <a:pPr marL="285750" indent="-285750">
              <a:buFontTx/>
              <a:buChar char="-"/>
            </a:pPr>
            <a:r>
              <a:rPr lang="en-US" sz="1400" dirty="0"/>
              <a:t>Completing the sprint</a:t>
            </a:r>
          </a:p>
          <a:p>
            <a:pPr marL="285750" indent="-285750">
              <a:buFontTx/>
              <a:buChar char="-"/>
            </a:pPr>
            <a:r>
              <a:rPr lang="en-US" sz="1400" dirty="0"/>
              <a:t>Fixing bugs</a:t>
            </a:r>
          </a:p>
          <a:p>
            <a:r>
              <a:rPr lang="en-US" sz="1400" dirty="0"/>
              <a:t>Testers</a:t>
            </a:r>
          </a:p>
          <a:p>
            <a:pPr marL="285750" indent="-285750">
              <a:buFontTx/>
              <a:buChar char="-"/>
            </a:pPr>
            <a:r>
              <a:rPr lang="en-US" sz="1400" dirty="0"/>
              <a:t>Testing the iterations of the project for quality</a:t>
            </a:r>
          </a:p>
          <a:p>
            <a:pPr marL="285750" indent="-285750">
              <a:buFontTx/>
              <a:buChar char="-"/>
            </a:pPr>
            <a:r>
              <a:rPr lang="en-US" sz="1400" dirty="0"/>
              <a:t>Reports bugs to Developers</a:t>
            </a:r>
          </a:p>
          <a:p>
            <a:r>
              <a:rPr lang="en-US" sz="1400" dirty="0"/>
              <a:t>Scrum Master</a:t>
            </a:r>
          </a:p>
          <a:p>
            <a:pPr marL="285750" indent="-285750">
              <a:buFontTx/>
              <a:buChar char="-"/>
            </a:pPr>
            <a:r>
              <a:rPr lang="en-US" sz="1400" dirty="0"/>
              <a:t>Keeps team on task</a:t>
            </a:r>
          </a:p>
          <a:p>
            <a:pPr marL="285750" indent="-285750">
              <a:buFontTx/>
              <a:buChar char="-"/>
            </a:pPr>
            <a:r>
              <a:rPr lang="en-US" sz="1400" dirty="0"/>
              <a:t>Promotes efficient and productive communication</a:t>
            </a:r>
          </a:p>
          <a:p>
            <a:pPr marL="285750" indent="-285750">
              <a:buFontTx/>
              <a:buChar char="-"/>
            </a:pPr>
            <a:r>
              <a:rPr lang="en-US" sz="1400" dirty="0"/>
              <a:t>Organizes meetings and documents them </a:t>
            </a:r>
          </a:p>
        </p:txBody>
      </p:sp>
      <p:sp>
        <p:nvSpPr>
          <p:cNvPr id="6" name="Slide Number Placeholder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
        <p:nvSpPr>
          <p:cNvPr id="7" name="Subtitle 2">
            <a:extLst>
              <a:ext uri="{FF2B5EF4-FFF2-40B4-BE49-F238E27FC236}">
                <a16:creationId xmlns:a16="http://schemas.microsoft.com/office/drawing/2014/main" id="{C232409A-3035-02B0-B16D-78DBE0CDD218}"/>
              </a:ext>
            </a:extLst>
          </p:cNvPr>
          <p:cNvSpPr txBox="1">
            <a:spLocks/>
          </p:cNvSpPr>
          <p:nvPr/>
        </p:nvSpPr>
        <p:spPr>
          <a:xfrm>
            <a:off x="8919411" y="1364457"/>
            <a:ext cx="3283026" cy="4843838"/>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0"/>
              </a:spcBef>
              <a:spcAft>
                <a:spcPts val="0"/>
              </a:spcAft>
              <a:buFont typeface="Arial" panose="020B0604020202020204" pitchFamily="34" charset="0"/>
              <a:buNone/>
              <a:defRPr sz="2400" kern="1200">
                <a:solidFill>
                  <a:schemeClr val="tx1"/>
                </a:solidFill>
                <a:latin typeface="+mn-lt"/>
                <a:ea typeface="+mn-ea"/>
                <a:cs typeface="+mn-cs"/>
              </a:defRPr>
            </a:lvl1pPr>
            <a:lvl2pPr marL="4572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Note*</a:t>
            </a:r>
          </a:p>
          <a:p>
            <a:r>
              <a:rPr lang="en-US" sz="1200" dirty="0"/>
              <a:t>These roles are all important to the effectiveness of the agile software development system. Without any one of them, projects would be much less productive and successful.</a:t>
            </a:r>
            <a:br>
              <a:rPr lang="en-US" sz="1200" dirty="0"/>
            </a:br>
            <a:endParaRPr lang="en-US" sz="1200" dirty="0"/>
          </a:p>
          <a:p>
            <a:r>
              <a:rPr lang="en-US" sz="1200" dirty="0"/>
              <a:t>Source*</a:t>
            </a:r>
            <a:br>
              <a:rPr lang="en-US" sz="1200" dirty="0"/>
            </a:br>
            <a:r>
              <a:rPr lang="en-US" sz="1200" dirty="0"/>
              <a:t>“One study states the benefits of sprint retrospective as “cultivation of the emotional intelligence, humility, and forthright communication” (Rasmussen, 2022)</a:t>
            </a:r>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236785" y="245481"/>
            <a:ext cx="6589150" cy="853557"/>
          </a:xfrm>
        </p:spPr>
        <p:txBody>
          <a:bodyPr/>
          <a:lstStyle/>
          <a:p>
            <a:r>
              <a:rPr lang="en-US" dirty="0"/>
              <a:t>Phases of Agile</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sz="half" idx="14"/>
          </p:nvPr>
        </p:nvSpPr>
        <p:spPr>
          <a:xfrm>
            <a:off x="460709" y="1099038"/>
            <a:ext cx="7132269" cy="5949335"/>
          </a:xfrm>
        </p:spPr>
        <p:txBody>
          <a:bodyPr vert="horz" lIns="91440" tIns="45720" rIns="91440" bIns="45720" rtlCol="0" anchor="t">
            <a:normAutofit/>
          </a:bodyPr>
          <a:lstStyle/>
          <a:p>
            <a:r>
              <a:rPr lang="en-US" dirty="0"/>
              <a:t>Product Backlog Creation</a:t>
            </a:r>
          </a:p>
          <a:p>
            <a:pPr marL="285750" indent="-285750">
              <a:buFontTx/>
              <a:buChar char="-"/>
            </a:pPr>
            <a:r>
              <a:rPr lang="en-US" dirty="0"/>
              <a:t>Product manager creates product backlog for team organization turning tasks into sprints</a:t>
            </a:r>
          </a:p>
          <a:p>
            <a:r>
              <a:rPr lang="en-US" dirty="0"/>
              <a:t>Sprint overview</a:t>
            </a:r>
          </a:p>
          <a:p>
            <a:pPr marL="285750" indent="-285750">
              <a:buFontTx/>
              <a:buChar char="-"/>
            </a:pPr>
            <a:r>
              <a:rPr lang="en-US" dirty="0"/>
              <a:t>The entire team reviews the project in an initial meeting to get all team members on the same page</a:t>
            </a:r>
          </a:p>
          <a:p>
            <a:r>
              <a:rPr lang="en-US" dirty="0"/>
              <a:t>Sprint &amp; Testing</a:t>
            </a:r>
          </a:p>
          <a:p>
            <a:pPr marL="285750" indent="-285750">
              <a:buFontTx/>
              <a:buChar char="-"/>
            </a:pPr>
            <a:r>
              <a:rPr lang="en-US" dirty="0"/>
              <a:t>Developers program one part of the project and have it tested  </a:t>
            </a:r>
          </a:p>
          <a:p>
            <a:r>
              <a:rPr lang="en-US" dirty="0"/>
              <a:t>Sprint review</a:t>
            </a:r>
          </a:p>
          <a:p>
            <a:pPr marL="285750" indent="-285750">
              <a:buFontTx/>
              <a:buChar char="-"/>
            </a:pPr>
            <a:r>
              <a:rPr lang="en-US" dirty="0"/>
              <a:t>Once that part of the project is complete, you review it and move to the next sprint</a:t>
            </a:r>
          </a:p>
          <a:p>
            <a:r>
              <a:rPr lang="en-US" dirty="0"/>
              <a:t>Repeat last two steps until no sprints remain</a:t>
            </a:r>
          </a:p>
          <a:p>
            <a:pPr marL="285750" indent="-285750">
              <a:buFontTx/>
              <a:buChar char="-"/>
            </a:pPr>
            <a:r>
              <a:rPr lang="en-US" dirty="0"/>
              <a:t>once all sprints are complete the bulk of the project is complete</a:t>
            </a:r>
          </a:p>
          <a:p>
            <a:r>
              <a:rPr lang="en-US" dirty="0"/>
              <a:t>Final Project Review and Reveal</a:t>
            </a:r>
          </a:p>
          <a:p>
            <a:r>
              <a:rPr lang="en-US" dirty="0"/>
              <a:t>Project complete</a:t>
            </a:r>
          </a:p>
          <a:p>
            <a:endParaRPr lang="en-US" dirty="0"/>
          </a:p>
        </p:txBody>
      </p:sp>
      <p:sp>
        <p:nvSpPr>
          <p:cNvPr id="6" name="Slide Number Placeholder 5">
            <a:extLst>
              <a:ext uri="{FF2B5EF4-FFF2-40B4-BE49-F238E27FC236}">
                <a16:creationId xmlns:a16="http://schemas.microsoft.com/office/drawing/2014/main" id="{A4AC050D-BAF4-C23C-F8EC-24DEC4293002}"/>
              </a:ext>
            </a:extLst>
          </p:cNvPr>
          <p:cNvSpPr>
            <a:spLocks noGrp="1"/>
          </p:cNvSpPr>
          <p:nvPr>
            <p:ph type="sldNum" sz="quarter" idx="12"/>
          </p:nvPr>
        </p:nvSpPr>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591731" y="245481"/>
            <a:ext cx="9389288" cy="1362456"/>
          </a:xfrm>
        </p:spPr>
        <p:txBody>
          <a:bodyPr/>
          <a:lstStyle/>
          <a:p>
            <a:pPr algn="ctr"/>
            <a:r>
              <a:rPr lang="en-US" dirty="0"/>
              <a:t>Previous Implementation :</a:t>
            </a:r>
            <a:br>
              <a:rPr lang="en-US" dirty="0"/>
            </a:br>
            <a:r>
              <a:rPr lang="en-US" dirty="0"/>
              <a:t>Waterfall</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14"/>
          </p:nvPr>
        </p:nvSpPr>
        <p:spPr>
          <a:xfrm>
            <a:off x="591731" y="1471722"/>
            <a:ext cx="4514850" cy="5249753"/>
          </a:xfrm>
        </p:spPr>
        <p:txBody>
          <a:bodyPr vert="horz" lIns="91440" tIns="45720" rIns="91440" bIns="45720" rtlCol="0" anchor="t">
            <a:normAutofit/>
          </a:bodyPr>
          <a:lstStyle/>
          <a:p>
            <a:r>
              <a:rPr lang="en-US" dirty="0"/>
              <a:t>Waterfall’s Design:</a:t>
            </a:r>
          </a:p>
          <a:p>
            <a:r>
              <a:rPr lang="en-US" dirty="0"/>
              <a:t>Design </a:t>
            </a:r>
          </a:p>
          <a:p>
            <a:pPr marL="285750" indent="-285750">
              <a:buFontTx/>
              <a:buChar char="-"/>
            </a:pPr>
            <a:r>
              <a:rPr lang="en-US" dirty="0"/>
              <a:t>Based on the requirements for the project</a:t>
            </a:r>
          </a:p>
          <a:p>
            <a:r>
              <a:rPr lang="en-US" dirty="0"/>
              <a:t>Development</a:t>
            </a:r>
          </a:p>
          <a:p>
            <a:pPr marL="285750" indent="-285750">
              <a:buFontTx/>
              <a:buChar char="-"/>
            </a:pPr>
            <a:r>
              <a:rPr lang="en-US" dirty="0"/>
              <a:t>Developers design the product</a:t>
            </a:r>
          </a:p>
          <a:p>
            <a:r>
              <a:rPr lang="en-US" dirty="0"/>
              <a:t>Testing</a:t>
            </a:r>
          </a:p>
          <a:p>
            <a:pPr marL="285750" indent="-285750">
              <a:buFontTx/>
              <a:buChar char="-"/>
            </a:pPr>
            <a:r>
              <a:rPr lang="en-US" dirty="0"/>
              <a:t>Product is tested</a:t>
            </a:r>
          </a:p>
          <a:p>
            <a:r>
              <a:rPr lang="en-US" dirty="0"/>
              <a:t>Deployment</a:t>
            </a:r>
          </a:p>
          <a:p>
            <a:r>
              <a:rPr lang="en-US" dirty="0"/>
              <a:t> - The product is published </a:t>
            </a:r>
          </a:p>
          <a:p>
            <a:r>
              <a:rPr lang="en-US" dirty="0"/>
              <a:t>Maintenance</a:t>
            </a:r>
          </a:p>
          <a:p>
            <a:r>
              <a:rPr lang="en-US" dirty="0"/>
              <a:t>- Continual maintenance is performed on the product</a:t>
            </a:r>
          </a:p>
          <a:p>
            <a:endParaRPr lang="en-US" dirty="0"/>
          </a:p>
        </p:txBody>
      </p:sp>
      <p:sp>
        <p:nvSpPr>
          <p:cNvPr id="8" name="Content Placeholder 7">
            <a:extLst>
              <a:ext uri="{FF2B5EF4-FFF2-40B4-BE49-F238E27FC236}">
                <a16:creationId xmlns:a16="http://schemas.microsoft.com/office/drawing/2014/main" id="{813F3455-E568-40C9-9F4D-8C89F4CD95F8}"/>
              </a:ext>
            </a:extLst>
          </p:cNvPr>
          <p:cNvSpPr>
            <a:spLocks noGrp="1"/>
          </p:cNvSpPr>
          <p:nvPr>
            <p:ph sz="half" idx="15"/>
          </p:nvPr>
        </p:nvSpPr>
        <p:spPr>
          <a:xfrm>
            <a:off x="5645963" y="1471722"/>
            <a:ext cx="4514850" cy="5165391"/>
          </a:xfrm>
        </p:spPr>
        <p:txBody>
          <a:bodyPr vert="horz" lIns="91440" tIns="45720" rIns="91440" bIns="45720" rtlCol="0" anchor="t">
            <a:normAutofit fontScale="85000" lnSpcReduction="10000"/>
          </a:bodyPr>
          <a:lstStyle/>
          <a:p>
            <a:r>
              <a:rPr lang="en-US" dirty="0"/>
              <a:t>If the shareholders change their minds about which part of the project is most important or want to iterate new features, there is no system that allows.</a:t>
            </a:r>
          </a:p>
          <a:p>
            <a:r>
              <a:rPr lang="en-US" dirty="0"/>
              <a:t>In the SNHU Travel project the shareholders introduced a new functionality during the development process/</a:t>
            </a:r>
          </a:p>
          <a:p>
            <a:r>
              <a:rPr lang="en-US" dirty="0"/>
              <a:t>In Waterfall there is no room for iteration once development has started, the entire project is planned out before development and generally does not get reviewed again.</a:t>
            </a:r>
          </a:p>
          <a:p>
            <a:r>
              <a:rPr lang="en-US" dirty="0"/>
              <a:t>Source*</a:t>
            </a:r>
          </a:p>
          <a:p>
            <a:r>
              <a:rPr lang="en-US" dirty="0"/>
              <a:t>“Traditional waterfall approaches are extremely time-consuming and costly often involving large teams working separately over a long period” (</a:t>
            </a:r>
            <a:r>
              <a:rPr lang="en-US" dirty="0" err="1"/>
              <a:t>Fawareh</a:t>
            </a:r>
            <a:r>
              <a:rPr lang="en-US" dirty="0"/>
              <a:t>, Al-Smadi, Saadeh, </a:t>
            </a:r>
            <a:r>
              <a:rPr lang="en-US" dirty="0" err="1"/>
              <a:t>Fawareh</a:t>
            </a:r>
            <a:r>
              <a:rPr lang="en-US" dirty="0"/>
              <a:t>, </a:t>
            </a:r>
            <a:r>
              <a:rPr lang="en-US" dirty="0" err="1"/>
              <a:t>Elrashidi</a:t>
            </a:r>
            <a:r>
              <a:rPr lang="en-US" dirty="0"/>
              <a:t>, Al-Shdaifat, 2024))</a:t>
            </a:r>
          </a:p>
        </p:txBody>
      </p:sp>
      <p:sp>
        <p:nvSpPr>
          <p:cNvPr id="7" name="Slide Number Placeholder 6">
            <a:extLst>
              <a:ext uri="{FF2B5EF4-FFF2-40B4-BE49-F238E27FC236}">
                <a16:creationId xmlns:a16="http://schemas.microsoft.com/office/drawing/2014/main" id="{08761B51-19E8-1412-3155-39DDEACA1818}"/>
              </a:ext>
            </a:extLst>
          </p:cNvPr>
          <p:cNvSpPr>
            <a:spLocks noGrp="1"/>
          </p:cNvSpPr>
          <p:nvPr>
            <p:ph type="sldNum" sz="quarter" idx="12"/>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415169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3938783" y="321899"/>
            <a:ext cx="7889768" cy="812309"/>
          </a:xfrm>
        </p:spPr>
        <p:txBody>
          <a:bodyPr/>
          <a:lstStyle/>
          <a:p>
            <a:r>
              <a:rPr lang="en-US" dirty="0"/>
              <a:t>Waterfall or Agile</a:t>
            </a:r>
          </a:p>
        </p:txBody>
      </p:sp>
      <p:sp>
        <p:nvSpPr>
          <p:cNvPr id="12" name="Text Placeholder 11">
            <a:extLst>
              <a:ext uri="{FF2B5EF4-FFF2-40B4-BE49-F238E27FC236}">
                <a16:creationId xmlns:a16="http://schemas.microsoft.com/office/drawing/2014/main" id="{D3251268-42B4-3B45-A59B-740E2DB97A00}"/>
              </a:ext>
            </a:extLst>
          </p:cNvPr>
          <p:cNvSpPr>
            <a:spLocks noGrp="1"/>
          </p:cNvSpPr>
          <p:nvPr>
            <p:ph sz="half" idx="14"/>
          </p:nvPr>
        </p:nvSpPr>
        <p:spPr>
          <a:xfrm>
            <a:off x="3085503" y="1134208"/>
            <a:ext cx="3358971" cy="5428420"/>
          </a:xfrm>
        </p:spPr>
        <p:txBody>
          <a:bodyPr>
            <a:noAutofit/>
          </a:bodyPr>
          <a:lstStyle/>
          <a:p>
            <a:pPr marL="0" indent="0">
              <a:buNone/>
            </a:pPr>
            <a:r>
              <a:rPr lang="en-US" dirty="0"/>
              <a:t>Overall Agile has been proven to be more effective than Waterfall in large programming projects.</a:t>
            </a:r>
          </a:p>
          <a:p>
            <a:pPr marL="0" indent="0">
              <a:buNone/>
            </a:pPr>
            <a:r>
              <a:rPr lang="en-US" dirty="0"/>
              <a:t>The nature of programming projects causes flexibility to being important to development.</a:t>
            </a:r>
          </a:p>
          <a:p>
            <a:pPr marL="0" indent="0">
              <a:buNone/>
            </a:pPr>
            <a:r>
              <a:rPr lang="en-US" dirty="0"/>
              <a:t>Programming project applications are not well defined before they are implemented often requiring multiple iterations so be successful.</a:t>
            </a:r>
          </a:p>
          <a:p>
            <a:pPr marL="0" indent="0">
              <a:buNone/>
            </a:pPr>
            <a:r>
              <a:rPr lang="en-US" dirty="0"/>
              <a:t>Thus, Agile will work better for the SNHU Travel project as the website will have additional tools added to it during development.</a:t>
            </a:r>
          </a:p>
        </p:txBody>
      </p:sp>
      <p:sp>
        <p:nvSpPr>
          <p:cNvPr id="7" name="Text Placeholder 6">
            <a:extLst>
              <a:ext uri="{FF2B5EF4-FFF2-40B4-BE49-F238E27FC236}">
                <a16:creationId xmlns:a16="http://schemas.microsoft.com/office/drawing/2014/main" id="{02492136-277B-808E-9D1B-0527359207DB}"/>
              </a:ext>
            </a:extLst>
          </p:cNvPr>
          <p:cNvSpPr>
            <a:spLocks noGrp="1"/>
          </p:cNvSpPr>
          <p:nvPr>
            <p:ph sz="half" idx="1"/>
          </p:nvPr>
        </p:nvSpPr>
        <p:spPr>
          <a:xfrm>
            <a:off x="6826432" y="1213631"/>
            <a:ext cx="4580088" cy="5142719"/>
          </a:xfrm>
        </p:spPr>
        <p:txBody>
          <a:bodyPr>
            <a:noAutofit/>
          </a:bodyPr>
          <a:lstStyle/>
          <a:p>
            <a:pPr>
              <a:lnSpc>
                <a:spcPct val="100000"/>
              </a:lnSpc>
            </a:pPr>
            <a:r>
              <a:rPr lang="en-US" dirty="0"/>
              <a:t>Source* </a:t>
            </a:r>
            <a:br>
              <a:rPr lang="en-US" dirty="0"/>
            </a:br>
            <a:r>
              <a:rPr lang="en-US" dirty="0"/>
              <a:t> ”The main difference between agile and waterfall is flexibility. Agile allows for quick adaptation to changes, while Waterfall follows a strict and well-defined plan ”(Crăciun, Matei, Florian, Tudose, &amp; </a:t>
            </a:r>
            <a:r>
              <a:rPr lang="en-US" dirty="0" err="1"/>
              <a:t>Boiangiu</a:t>
            </a:r>
            <a:r>
              <a:rPr lang="en-US" dirty="0"/>
              <a:t>, 2024)</a:t>
            </a:r>
          </a:p>
          <a:p>
            <a:pPr>
              <a:lnSpc>
                <a:spcPct val="100000"/>
              </a:lnSpc>
            </a:pPr>
            <a:r>
              <a:rPr lang="en-US" dirty="0"/>
              <a:t>Source*</a:t>
            </a:r>
          </a:p>
          <a:p>
            <a:pPr>
              <a:lnSpc>
                <a:spcPct val="100000"/>
              </a:lnSpc>
            </a:pPr>
            <a:r>
              <a:rPr lang="en-US" dirty="0"/>
              <a:t>“… one of the most widely used traditional methodologies is Waterfall, where one phase needs to be finished before moving to another phase. Agile methodologies, where several phases run at the same time, are based on unpredictability and responsiveness to rapidly changing requirements”(</a:t>
            </a:r>
            <a:r>
              <a:rPr lang="en-US" dirty="0" err="1"/>
              <a:t>Stettina</a:t>
            </a:r>
            <a:r>
              <a:rPr lang="en-US" dirty="0"/>
              <a:t>, Garbajosa, &amp; Kruchten,  2023)</a:t>
            </a:r>
          </a:p>
        </p:txBody>
      </p:sp>
      <p:sp>
        <p:nvSpPr>
          <p:cNvPr id="14" name="Slide Number Placeholder 13">
            <a:extLst>
              <a:ext uri="{FF2B5EF4-FFF2-40B4-BE49-F238E27FC236}">
                <a16:creationId xmlns:a16="http://schemas.microsoft.com/office/drawing/2014/main" id="{F3DE1AA4-0AE6-C6D5-E252-BBD5ED259E32}"/>
              </a:ext>
            </a:extLst>
          </p:cNvPr>
          <p:cNvSpPr>
            <a:spLocks noGrp="1"/>
          </p:cNvSpPr>
          <p:nvPr>
            <p:ph type="sldNum" sz="quarter" idx="12"/>
          </p:nvPr>
        </p:nvSpPr>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1418789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759530" y="340123"/>
            <a:ext cx="10665845" cy="843757"/>
          </a:xfrm>
        </p:spPr>
        <p:txBody>
          <a:bodyPr/>
          <a:lstStyle/>
          <a:p>
            <a:pPr algn="ctr"/>
            <a:r>
              <a:rPr lang="en-US" dirty="0"/>
              <a:t>Sources:</a:t>
            </a:r>
          </a:p>
        </p:txBody>
      </p:sp>
      <p:sp>
        <p:nvSpPr>
          <p:cNvPr id="2" name="Slide Number Placeholder 1">
            <a:extLst>
              <a:ext uri="{FF2B5EF4-FFF2-40B4-BE49-F238E27FC236}">
                <a16:creationId xmlns:a16="http://schemas.microsoft.com/office/drawing/2014/main" id="{660EB401-2F91-2D90-C859-96484861E564}"/>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
        <p:nvSpPr>
          <p:cNvPr id="4" name="Table Placeholder 3">
            <a:extLst>
              <a:ext uri="{FF2B5EF4-FFF2-40B4-BE49-F238E27FC236}">
                <a16:creationId xmlns:a16="http://schemas.microsoft.com/office/drawing/2014/main" id="{4F03BE79-D3CA-2811-2008-83AF3D75115A}"/>
              </a:ext>
            </a:extLst>
          </p:cNvPr>
          <p:cNvSpPr>
            <a:spLocks noGrp="1"/>
          </p:cNvSpPr>
          <p:nvPr>
            <p:ph type="tbl" sz="quarter" idx="13"/>
          </p:nvPr>
        </p:nvSpPr>
        <p:spPr>
          <a:xfrm>
            <a:off x="762000" y="978569"/>
            <a:ext cx="11125200" cy="5539308"/>
          </a:xfrm>
        </p:spPr>
        <p:txBody>
          <a:bodyPr>
            <a:normAutofit/>
          </a:bodyPr>
          <a:lstStyle/>
          <a:p>
            <a:pPr marL="0" indent="0">
              <a:buNone/>
            </a:pPr>
            <a:r>
              <a:rPr lang="en-US" sz="1800" dirty="0"/>
              <a:t>Rasmussen, K. (2022). You Don’t Have To Be A Rocket Scientist: Using a project management lens and 	agile methodologies to enhance student employability skills and innovation. </a:t>
            </a:r>
            <a:r>
              <a:rPr lang="en-US" sz="1800" i="1" dirty="0"/>
              <a:t>Science 	Teacher</a:t>
            </a:r>
            <a:r>
              <a:rPr lang="en-US" sz="1800" dirty="0"/>
              <a:t>, </a:t>
            </a:r>
            <a:r>
              <a:rPr lang="en-US" sz="1800" i="1" dirty="0"/>
              <a:t>89</a:t>
            </a:r>
            <a:r>
              <a:rPr lang="en-US" sz="1800" dirty="0"/>
              <a:t>(5), 50–55. </a:t>
            </a:r>
            <a:r>
              <a:rPr lang="en-US" sz="1800" dirty="0">
                <a:hlinkClick r:id="rId3"/>
              </a:rPr>
              <a:t>https://doi.org/10.1080/00368555.2022.12293699</a:t>
            </a:r>
            <a:endParaRPr lang="en-US" sz="1800" dirty="0"/>
          </a:p>
          <a:p>
            <a:pPr marL="0" indent="0">
              <a:buNone/>
            </a:pPr>
            <a:r>
              <a:rPr lang="en-US" sz="1800" dirty="0" err="1"/>
              <a:t>Fawareh</a:t>
            </a:r>
            <a:r>
              <a:rPr lang="en-US" sz="1800" dirty="0"/>
              <a:t>, H., Al-Smadi, Y., Saadeh, R., </a:t>
            </a:r>
            <a:r>
              <a:rPr lang="en-US" sz="1800" dirty="0" err="1"/>
              <a:t>Fawareh</a:t>
            </a:r>
            <a:r>
              <a:rPr lang="en-US" sz="1800" dirty="0"/>
              <a:t>, F. A., </a:t>
            </a:r>
            <a:r>
              <a:rPr lang="en-US" sz="1800" dirty="0" err="1"/>
              <a:t>Elrashidi</a:t>
            </a:r>
            <a:r>
              <a:rPr lang="en-US" sz="1800" dirty="0"/>
              <a:t>, A., &amp; Al-Shdaifat, H. M. (2024). A 	Comparative Study between Agile and Waterfall Methodologies during Software Development 	Process. </a:t>
            </a:r>
            <a:r>
              <a:rPr lang="en-US" sz="1800" i="1" dirty="0"/>
              <a:t>2024 25th International Arab Conference on Information Technology (ACIT), Information 	Technology (ACIT), 2024 25th International Arab Conference On</a:t>
            </a:r>
            <a:r>
              <a:rPr lang="en-US" sz="1800" dirty="0"/>
              <a:t>, 1–5. 	</a:t>
            </a:r>
            <a:r>
              <a:rPr lang="en-US" sz="1800" dirty="0">
                <a:hlinkClick r:id="rId4"/>
              </a:rPr>
              <a:t>https://doi.org/10.1109/ACIT62805.2024.10877239</a:t>
            </a:r>
            <a:br>
              <a:rPr lang="en-US" sz="1800" dirty="0"/>
            </a:br>
            <a:br>
              <a:rPr lang="en-US" sz="1800" dirty="0"/>
            </a:br>
            <a:r>
              <a:rPr lang="en-US" sz="1800" dirty="0"/>
              <a:t>Crăciun, A.-C., Matei, I.-A., Florian, S.-G., Tudose, C., &amp; </a:t>
            </a:r>
            <a:r>
              <a:rPr lang="en-US" sz="1800" dirty="0" err="1"/>
              <a:t>Boiangiu</a:t>
            </a:r>
            <a:r>
              <a:rPr lang="en-US" sz="1800" dirty="0"/>
              <a:t>, C.-A. (2024). Productivity in a Waterfall 	Versus Agile Development Team. </a:t>
            </a:r>
            <a:r>
              <a:rPr lang="en-US" sz="1800" i="1" dirty="0"/>
              <a:t>Journal of Information Systems &amp; Operations Management</a:t>
            </a:r>
            <a:r>
              <a:rPr lang="en-US" sz="1800" dirty="0"/>
              <a:t>, </a:t>
            </a:r>
            <a:r>
              <a:rPr lang="en-US" sz="1800" i="1" dirty="0"/>
              <a:t>18</a:t>
            </a:r>
            <a:r>
              <a:rPr lang="en-US" sz="1800" dirty="0"/>
              <a:t>(2), 	51–67.</a:t>
            </a:r>
            <a:br>
              <a:rPr lang="en-US" sz="1800" dirty="0"/>
            </a:br>
            <a:br>
              <a:rPr lang="en-US" sz="1800" dirty="0"/>
            </a:br>
            <a:r>
              <a:rPr lang="en-US" sz="1800" dirty="0" err="1"/>
              <a:t>Stettina</a:t>
            </a:r>
            <a:r>
              <a:rPr lang="en-US" sz="1800" dirty="0"/>
              <a:t>, C. J., Garbajosa, J., &amp; Kruchten, P. (2023). </a:t>
            </a:r>
            <a:r>
              <a:rPr lang="en-US" sz="1800" i="1" dirty="0"/>
              <a:t>Agile Processes in Software Engineering and Extreme 	Programming</a:t>
            </a:r>
            <a:r>
              <a:rPr lang="en-US" sz="1800" dirty="0"/>
              <a:t>. Springer Nature. https://doi.org/10.1007/978-3-031-33976-9</a:t>
            </a:r>
          </a:p>
        </p:txBody>
      </p:sp>
    </p:spTree>
    <p:extLst>
      <p:ext uri="{BB962C8B-B14F-4D97-AF65-F5344CB8AC3E}">
        <p14:creationId xmlns:p14="http://schemas.microsoft.com/office/powerpoint/2010/main" val="566997565"/>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3.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{A22709D9-0A66-44EA-B8CD-A31967D32B53}TF55c86556-70ea-476e-aa05-13a38f2d5b0da1381d77_win32-a3c664429073</Template>
  <TotalTime>444</TotalTime>
  <Words>797</Words>
  <Application>Microsoft Office PowerPoint</Application>
  <PresentationFormat>Widescreen</PresentationFormat>
  <Paragraphs>71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Avenir Next LT Pro</vt:lpstr>
      <vt:lpstr>Calibri</vt:lpstr>
      <vt:lpstr>Custom</vt:lpstr>
      <vt:lpstr>Agile Implementation   Module 7 Taylor Torgeson</vt:lpstr>
      <vt:lpstr>Agile Roles</vt:lpstr>
      <vt:lpstr>Phases of Agile</vt:lpstr>
      <vt:lpstr>Previous Implementation : Waterfall</vt:lpstr>
      <vt:lpstr>Waterfall or Agile</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Torgeson, Taylor</dc:creator>
  <cp:lastModifiedBy>Torgeson, Taylor</cp:lastModifiedBy>
  <cp:revision>3</cp:revision>
  <dcterms:created xsi:type="dcterms:W3CDTF">2025-10-21T21:28:59Z</dcterms:created>
  <dcterms:modified xsi:type="dcterms:W3CDTF">2025-10-22T04:53:11Z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